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Algerian" panose="04020705040A02060702" pitchFamily="82" charset="0"/>
      <p:regular r:id="rId14"/>
    </p:embeddedFont>
    <p:embeddedFont>
      <p:font typeface="Gelasio" panose="020B0604020202020204" charset="0"/>
      <p:regular r:id="rId15"/>
    </p:embeddedFont>
    <p:embeddedFont>
      <p:font typeface="Lato" panose="020F0502020204030203" pitchFamily="34" charset="0"/>
      <p:regular r:id="rId16"/>
    </p:embeddedFont>
    <p:embeddedFont>
      <p:font typeface="Lato 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0614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633910"/>
            <a:ext cx="1999878" cy="215354"/>
          </a:xfrm>
          <a:prstGeom prst="roundRect">
            <a:avLst>
              <a:gd name="adj" fmla="val 22119"/>
            </a:avLst>
          </a:prstGeom>
          <a:solidFill>
            <a:srgbClr val="E8E8E3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1676400"/>
            <a:ext cx="228696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APEXPLANET SOFTWARE PVT. LTD.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2566839" y="1633910"/>
            <a:ext cx="1975098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E5E5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651894" y="1676400"/>
            <a:ext cx="226218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5E5E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TASK 5 | CAPSTONE INTEGRATION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96119" y="190596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Analytics Internship Portfolio</a:t>
            </a:r>
            <a:endParaRPr lang="en-US" sz="2750" dirty="0"/>
          </a:p>
        </p:txBody>
      </p:sp>
      <p:sp>
        <p:nvSpPr>
          <p:cNvPr id="8" name="Text 5"/>
          <p:cNvSpPr/>
          <p:nvPr/>
        </p:nvSpPr>
        <p:spPr>
          <a:xfrm>
            <a:off x="496119" y="2848645"/>
            <a:ext cx="4722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Capstone Integration &amp; Portfolio Finalization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96119" y="3282702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Prepared by </a:t>
            </a:r>
            <a:r>
              <a:rPr lang="en-US" sz="11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Bhoomika N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· B.Tech Computer Science &amp;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Internship &amp; Project Overview</a:t>
            </a:r>
            <a:endParaRPr lang="en-US" sz="1400" b="1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151763" cy="598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internship provided hands-on experience across the complete data analytics lifecycle — from raw data ingestion to business-ready insights — using a real-world Sales Analytics project. Each phase built on the last, culminating in a validated, stakeholder-ready portfolio.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11825" b="10525"/>
          <a:stretch>
            <a:fillRect/>
          </a:stretch>
        </p:blipFill>
        <p:spPr>
          <a:xfrm>
            <a:off x="576776" y="1329397"/>
            <a:ext cx="7315200" cy="319517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B1C93E-BD45-B19B-0B9E-E344F30D6533}"/>
              </a:ext>
            </a:extLst>
          </p:cNvPr>
          <p:cNvSpPr/>
          <p:nvPr/>
        </p:nvSpPr>
        <p:spPr>
          <a:xfrm>
            <a:off x="8039686" y="4783016"/>
            <a:ext cx="1055077" cy="3094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Dataset &amp; Business Objectives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0" y="1505805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What We Set Out to Discover</a:t>
            </a:r>
            <a:endParaRPr lang="en-US" sz="1400" b="1" dirty="0"/>
          </a:p>
        </p:txBody>
      </p:sp>
      <p:sp>
        <p:nvSpPr>
          <p:cNvPr id="5" name="Text 2"/>
          <p:cNvSpPr/>
          <p:nvPr/>
        </p:nvSpPr>
        <p:spPr>
          <a:xfrm>
            <a:off x="4722181" y="1835594"/>
            <a:ext cx="3986733" cy="1167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Overall sales performance and revenue trends</a:t>
            </a:r>
            <a:endParaRPr lang="en-US" sz="12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High-performing products and categories</a:t>
            </a:r>
            <a:endParaRPr lang="en-US" sz="12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 purchasing behavior patterns</a:t>
            </a:r>
            <a:endParaRPr lang="en-US" sz="12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Geographic sales comparisons across cities</a:t>
            </a:r>
            <a:endParaRPr lang="en-US" sz="12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Time-based sales trends and seasonality</a:t>
            </a:r>
            <a:endParaRPr lang="en-US" sz="12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Actionable business recommendations</a:t>
            </a:r>
            <a:endParaRPr lang="en-US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2B7047-5412-88CF-96C6-F22E2F928E4B}"/>
              </a:ext>
            </a:extLst>
          </p:cNvPr>
          <p:cNvSpPr/>
          <p:nvPr/>
        </p:nvSpPr>
        <p:spPr>
          <a:xfrm>
            <a:off x="8039686" y="4775982"/>
            <a:ext cx="1055077" cy="3094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9306"/>
            <a:ext cx="448345" cy="181719"/>
          </a:xfrm>
          <a:prstGeom prst="roundRect">
            <a:avLst>
              <a:gd name="adj" fmla="val 22117"/>
            </a:avLst>
          </a:prstGeom>
          <a:solidFill>
            <a:srgbClr val="E8E8E3"/>
          </a:solidFill>
          <a:ln/>
        </p:spPr>
      </p:sp>
      <p:sp>
        <p:nvSpPr>
          <p:cNvPr id="3" name="Text 1"/>
          <p:cNvSpPr/>
          <p:nvPr/>
        </p:nvSpPr>
        <p:spPr>
          <a:xfrm>
            <a:off x="567854" y="435173"/>
            <a:ext cx="762074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TASK 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21357"/>
            <a:ext cx="8151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Immersion &amp; Wrangling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496119" y="1146497"/>
            <a:ext cx="8151763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first task established a reliable, analysis-ready dataset through systematic data quality checks and transformation using Python, Pandas, NumPy, and Google Colab/Jupyter Notebook.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100" y="1612702"/>
            <a:ext cx="4787801" cy="28415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10481" y="3795157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Deliver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010581" y="3795157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Clean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486226" y="3795157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Inspect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6119" y="4567758"/>
            <a:ext cx="86089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structured approach ensured data integrity before any downstream analysis, reducing the risk of misleading results.</a:t>
            </a:r>
            <a:endParaRPr lang="en-US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A28DA3-B06F-8D04-E754-B31F72F48019}"/>
              </a:ext>
            </a:extLst>
          </p:cNvPr>
          <p:cNvSpPr/>
          <p:nvPr/>
        </p:nvSpPr>
        <p:spPr>
          <a:xfrm>
            <a:off x="8039686" y="4775982"/>
            <a:ext cx="1055077" cy="3094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5557"/>
            <a:ext cx="506537" cy="205234"/>
          </a:xfrm>
          <a:prstGeom prst="roundRect">
            <a:avLst>
              <a:gd name="adj" fmla="val 22122"/>
            </a:avLst>
          </a:prstGeom>
          <a:solidFill>
            <a:srgbClr val="E8E8E3"/>
          </a:solidFill>
          <a:ln/>
        </p:spPr>
      </p:sp>
      <p:sp>
        <p:nvSpPr>
          <p:cNvPr id="3" name="Text 1"/>
          <p:cNvSpPr/>
          <p:nvPr/>
        </p:nvSpPr>
        <p:spPr>
          <a:xfrm>
            <a:off x="577155" y="446038"/>
            <a:ext cx="801663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TASK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662285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Exploratory Data Analysis &amp; Business Intelligence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496119" y="1406500"/>
            <a:ext cx="263879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Analysis Dimensions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6119" y="1746349"/>
            <a:ext cx="2638797" cy="1446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Revenue performance and sales trends over time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Product and category-level contribution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 behavior and segmentation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Gender-based purchasing analysis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City-wise geographic sales comparison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6119" y="3321844"/>
            <a:ext cx="263879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Tools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6119" y="3661693"/>
            <a:ext cx="2638797" cy="960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Python · Pandas · Matplotlib · Seaborn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Summary statistics and visualizations transformed cleaned data into meaningful analytical and business insights.</a:t>
            </a:r>
            <a:endParaRPr lang="en-US" sz="10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9332" y="1539255"/>
            <a:ext cx="5183237" cy="293712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DA28038-0645-1148-011E-AE38693C2956}"/>
              </a:ext>
            </a:extLst>
          </p:cNvPr>
          <p:cNvSpPr/>
          <p:nvPr/>
        </p:nvSpPr>
        <p:spPr>
          <a:xfrm>
            <a:off x="8039686" y="4775982"/>
            <a:ext cx="1055077" cy="3094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83766"/>
            <a:ext cx="514722" cy="208583"/>
          </a:xfrm>
          <a:prstGeom prst="roundRect">
            <a:avLst>
              <a:gd name="adj" fmla="val 22123"/>
            </a:avLst>
          </a:prstGeom>
          <a:solidFill>
            <a:srgbClr val="E8E8E3"/>
          </a:solidFill>
          <a:ln/>
        </p:spPr>
      </p:sp>
      <p:sp>
        <p:nvSpPr>
          <p:cNvPr id="3" name="Text 1"/>
          <p:cNvSpPr/>
          <p:nvPr/>
        </p:nvSpPr>
        <p:spPr>
          <a:xfrm>
            <a:off x="578495" y="524917"/>
            <a:ext cx="807169" cy="1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TASK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45554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Deep-Dive Analysis &amp; Interactive Dashboarding</a:t>
            </a:r>
            <a:endParaRPr lang="en-US" sz="2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48929"/>
            <a:ext cx="5181377" cy="29360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17270" y="1507182"/>
            <a:ext cx="263530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Dashboard Components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17270" y="1854696"/>
            <a:ext cx="2635300" cy="1700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Total Sales KPI — </a:t>
            </a:r>
            <a:r>
              <a:rPr lang="en-US" sz="10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~139.40M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Sales breakdown by Category &amp; Product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City-wise and Gender-based performance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Customer-level and time-series analysis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Interactive filtering for visual exploration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931924" y="3619723"/>
            <a:ext cx="2635300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Built in </a:t>
            </a:r>
            <a:r>
              <a:rPr lang="en-US" sz="10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Microsoft Power BI</a:t>
            </a: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the dashboard enabled intuitive interpretation of sales performance and supported data-driven decision-making for stakeholders.</a:t>
            </a:r>
            <a:endParaRPr lang="en-US" sz="10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2F9DBE-60E0-7893-73B5-C4148622CED4}"/>
              </a:ext>
            </a:extLst>
          </p:cNvPr>
          <p:cNvSpPr/>
          <p:nvPr/>
        </p:nvSpPr>
        <p:spPr>
          <a:xfrm>
            <a:off x="8039686" y="4783016"/>
            <a:ext cx="1055077" cy="3094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265509" cy="107603"/>
          </a:xfrm>
          <a:prstGeom prst="roundRect">
            <a:avLst>
              <a:gd name="adj" fmla="val 22134"/>
            </a:avLst>
          </a:prstGeom>
          <a:solidFill>
            <a:srgbClr val="E8E8E3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637729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TASK 4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Storytelling &amp; Statistical Validation</a:t>
            </a:r>
            <a:endParaRPr lang="en-US" b="1" dirty="0"/>
          </a:p>
        </p:txBody>
      </p:sp>
      <p:sp>
        <p:nvSpPr>
          <p:cNvPr id="5" name="Text 3"/>
          <p:cNvSpPr/>
          <p:nvPr/>
        </p:nvSpPr>
        <p:spPr>
          <a:xfrm>
            <a:off x="761628" y="950777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Statistical Techniques Applied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41314" y="1206317"/>
            <a:ext cx="3989412" cy="777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11760" indent="-111760" algn="just">
              <a:lnSpc>
                <a:spcPct val="100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Descriptive statistics — mean, median, variance</a:t>
            </a:r>
            <a:endParaRPr lang="en-US" sz="1200" dirty="0"/>
          </a:p>
          <a:p>
            <a:pPr marL="111760" indent="-111760" algn="just">
              <a:lnSpc>
                <a:spcPct val="100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Standard deviation and distribution analysis</a:t>
            </a:r>
            <a:endParaRPr lang="en-US" sz="1200" dirty="0"/>
          </a:p>
          <a:p>
            <a:pPr marL="111760" indent="-111760" algn="just">
              <a:lnSpc>
                <a:spcPct val="100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Correlation analysis across key variables</a:t>
            </a:r>
            <a:endParaRPr lang="en-US" sz="1200" dirty="0"/>
          </a:p>
          <a:p>
            <a:pPr marL="111760" indent="-111760" algn="just">
              <a:lnSpc>
                <a:spcPct val="100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Outlier detection and data quality checks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4540" y="2479592"/>
            <a:ext cx="3989412" cy="705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Statistical validation increased confidence in analytical findings, while data storytelling converted numerical results into clear, actionable business narratives.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232" y="833030"/>
            <a:ext cx="3989412" cy="398941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9692A03-FE64-75D3-C44C-6443A585A16C}"/>
              </a:ext>
            </a:extLst>
          </p:cNvPr>
          <p:cNvSpPr/>
          <p:nvPr/>
        </p:nvSpPr>
        <p:spPr>
          <a:xfrm>
            <a:off x="8039686" y="4775982"/>
            <a:ext cx="1055077" cy="3094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740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Business Insights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243905"/>
            <a:ext cx="4004965" cy="1620217"/>
          </a:xfrm>
          <a:prstGeom prst="roundRect">
            <a:avLst>
              <a:gd name="adj" fmla="val 3675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2640" y="1390427"/>
            <a:ext cx="425276" cy="425276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619" y="1507331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2640" y="1957462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Category Leadership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263973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Electronics emerged as the top revenue-generating category, driving the largest share of total sales.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42842" y="1243905"/>
            <a:ext cx="4005039" cy="1620217"/>
          </a:xfrm>
          <a:prstGeom prst="roundRect">
            <a:avLst>
              <a:gd name="adj" fmla="val 3675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89363" y="1390427"/>
            <a:ext cx="425276" cy="425276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06342" y="1507331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89363" y="1957462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Product Contribution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789363" y="2263973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Product-level analysis revealed significant variation in individual sales contribution across the catalog.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96119" y="3005882"/>
            <a:ext cx="4004965" cy="1620217"/>
          </a:xfrm>
          <a:prstGeom prst="roundRect">
            <a:avLst>
              <a:gd name="adj" fmla="val 3675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2640" y="3152403"/>
            <a:ext cx="425276" cy="425276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619" y="3269307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2640" y="3719438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Geographic Performance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42640" y="4025950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City-wise analysis identified stronger and weaker performing markets for targeted strategy.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42842" y="3005882"/>
            <a:ext cx="4005039" cy="1620217"/>
          </a:xfrm>
          <a:prstGeom prst="roundRect">
            <a:avLst>
              <a:gd name="adj" fmla="val 3675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89363" y="3152403"/>
            <a:ext cx="425276" cy="425276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6342" y="3269307"/>
            <a:ext cx="191319" cy="1913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89363" y="3719438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Customer Segmentation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4789363" y="4025950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Gender and customer-level analysis uncovered meaningful purchasing behavior differences.</a:t>
            </a:r>
            <a:endParaRPr lang="en-US" sz="11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1F76C86-10D5-BA02-610A-120328E9E995}"/>
              </a:ext>
            </a:extLst>
          </p:cNvPr>
          <p:cNvSpPr/>
          <p:nvPr/>
        </p:nvSpPr>
        <p:spPr>
          <a:xfrm>
            <a:off x="8039686" y="4775982"/>
            <a:ext cx="1055077" cy="3094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Business Recommendations</a:t>
            </a:r>
            <a:endParaRPr lang="en-US" sz="2000" b="1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82852" y="1154516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i="1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Actionable Next Steps</a:t>
            </a:r>
            <a:endParaRPr lang="en-US" sz="1400" b="1" i="1" dirty="0"/>
          </a:p>
        </p:txBody>
      </p:sp>
      <p:sp>
        <p:nvSpPr>
          <p:cNvPr id="5" name="Text 2"/>
          <p:cNvSpPr/>
          <p:nvPr/>
        </p:nvSpPr>
        <p:spPr>
          <a:xfrm>
            <a:off x="4750317" y="1368920"/>
            <a:ext cx="3986733" cy="2690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11760" indent="-111760" algn="just">
              <a:lnSpc>
                <a:spcPct val="101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Prioritize inventory for high-performing products and categories</a:t>
            </a:r>
            <a:endParaRPr lang="en-US" sz="1200" dirty="0"/>
          </a:p>
          <a:p>
            <a:pPr marL="111760" indent="-111760" algn="just">
              <a:lnSpc>
                <a:spcPct val="101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Develop targeted campaigns for valuable customer segments</a:t>
            </a:r>
            <a:endParaRPr lang="en-US" sz="1200" dirty="0"/>
          </a:p>
          <a:p>
            <a:pPr marL="111760" indent="-111760" algn="just">
              <a:lnSpc>
                <a:spcPct val="101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Strengthen marketing in high-performing geographic markets</a:t>
            </a:r>
            <a:endParaRPr lang="en-US" sz="1200" dirty="0"/>
          </a:p>
          <a:p>
            <a:pPr marL="111760" indent="-111760" algn="just">
              <a:lnSpc>
                <a:spcPct val="101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Investigate growth opportunities in lower-performing cities</a:t>
            </a:r>
            <a:endParaRPr lang="en-US" sz="1200" dirty="0"/>
          </a:p>
          <a:p>
            <a:pPr marL="111760" indent="-111760" algn="just">
              <a:lnSpc>
                <a:spcPct val="101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 historical patterns for inventory and demand planning</a:t>
            </a:r>
            <a:endParaRPr lang="en-US" sz="1200" dirty="0"/>
          </a:p>
          <a:p>
            <a:pPr marL="111760" indent="-111760" algn="just">
              <a:lnSpc>
                <a:spcPct val="101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Monitor KPIs regularly via interactive dashboards</a:t>
            </a:r>
            <a:endParaRPr lang="en-US" sz="1200" dirty="0"/>
          </a:p>
          <a:p>
            <a:pPr marL="111760" indent="-111760" algn="just">
              <a:lnSpc>
                <a:spcPct val="101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Introduce predictive analytics for future sales forecasting</a:t>
            </a:r>
            <a:endParaRPr lang="en-US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741D18-54E4-A0AA-1070-C18724A63BAE}"/>
              </a:ext>
            </a:extLst>
          </p:cNvPr>
          <p:cNvSpPr/>
          <p:nvPr/>
        </p:nvSpPr>
        <p:spPr>
          <a:xfrm>
            <a:off x="8039686" y="4783016"/>
            <a:ext cx="1055077" cy="3094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393129"/>
            <a:ext cx="1454051" cy="188565"/>
          </a:xfrm>
          <a:prstGeom prst="roundRect">
            <a:avLst>
              <a:gd name="adj" fmla="val 22104"/>
            </a:avLst>
          </a:prstGeom>
          <a:solidFill>
            <a:srgbClr val="E8E8E3"/>
          </a:solidFill>
          <a:ln/>
        </p:spPr>
      </p:sp>
      <p:sp>
        <p:nvSpPr>
          <p:cNvPr id="4" name="Text 1"/>
          <p:cNvSpPr/>
          <p:nvPr/>
        </p:nvSpPr>
        <p:spPr>
          <a:xfrm>
            <a:off x="570533" y="430337"/>
            <a:ext cx="1762423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TOOLS · SKILLS · OUTCOMES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96119" y="625078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Technical Skills &amp; Learning Outcomes</a:t>
            </a:r>
            <a:endParaRPr lang="en-US" sz="2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562919"/>
            <a:ext cx="310083" cy="31008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41859" y="1562919"/>
            <a:ext cx="427702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Programming &amp; Analysis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941859" y="1821879"/>
            <a:ext cx="427702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Python · Pandas · NumPy · Data Cleaning · EDA · Statistical Analysis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224980"/>
            <a:ext cx="310083" cy="31008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41859" y="2224980"/>
            <a:ext cx="427702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Visualization &amp; BI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941859" y="2483941"/>
            <a:ext cx="427702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Matplotlib · Seaborn · Power BI · Dashboard Development · Data Storytelling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887042"/>
            <a:ext cx="310083" cy="31008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1859" y="2887042"/>
            <a:ext cx="427702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Platforms &amp; Workflow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941859" y="3146003"/>
            <a:ext cx="427702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Google Colab · Jupyter Notebook · Git · GitHub · Business Intelligence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496119" y="3454078"/>
            <a:ext cx="14288" cy="802184"/>
          </a:xfrm>
          <a:prstGeom prst="roundRect">
            <a:avLst>
              <a:gd name="adj" fmla="val 59998"/>
            </a:avLst>
          </a:prstGeom>
          <a:solidFill>
            <a:srgbClr val="E5E5E0"/>
          </a:solidFill>
          <a:ln/>
        </p:spPr>
      </p:sp>
      <p:sp>
        <p:nvSpPr>
          <p:cNvPr id="16" name="Text 10"/>
          <p:cNvSpPr/>
          <p:nvPr/>
        </p:nvSpPr>
        <p:spPr>
          <a:xfrm>
            <a:off x="682154" y="3576117"/>
            <a:ext cx="4536728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From Raw Data to Actionable Business Intelligence</a:t>
            </a: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This internship strengthened both technical and business-oriented analytical skills, producing a complete, portfolio-ready data analytics project.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496119" y="4378300"/>
            <a:ext cx="472276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Thank you — </a:t>
            </a:r>
            <a:r>
              <a:rPr lang="en-US" sz="9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Bhoomika N</a:t>
            </a: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· B.Tech Computer Science &amp; Engineering · ApexPlanet Software Pvt. Ltd.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B1245B7-053A-6E68-39CD-776D23BD95E5}"/>
              </a:ext>
            </a:extLst>
          </p:cNvPr>
          <p:cNvSpPr/>
          <p:nvPr/>
        </p:nvSpPr>
        <p:spPr>
          <a:xfrm>
            <a:off x="8039686" y="4775982"/>
            <a:ext cx="1055077" cy="3094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79A43E-246D-E674-5752-25196BEAB92D}"/>
              </a:ext>
            </a:extLst>
          </p:cNvPr>
          <p:cNvSpPr txBox="1"/>
          <p:nvPr/>
        </p:nvSpPr>
        <p:spPr>
          <a:xfrm>
            <a:off x="3214468" y="1955410"/>
            <a:ext cx="3073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lgerian" panose="04020705040A02060702" pitchFamily="82" charset="0"/>
              </a:rPr>
              <a:t>Thank you</a:t>
            </a:r>
            <a:endParaRPr lang="en-IN" sz="28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3830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565</Words>
  <Application>Microsoft Office PowerPoint</Application>
  <PresentationFormat>On-screen Show (16:9)</PresentationFormat>
  <Paragraphs>89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Lato</vt:lpstr>
      <vt:lpstr>Algerian</vt:lpstr>
      <vt:lpstr>Lato Bold</vt:lpstr>
      <vt:lpstr>Gelasio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Bhoomika.n</dc:creator>
  <cp:lastModifiedBy>Bhoomika N</cp:lastModifiedBy>
  <cp:revision>2</cp:revision>
  <dcterms:created xsi:type="dcterms:W3CDTF">2026-07-23T14:25:39Z</dcterms:created>
  <dcterms:modified xsi:type="dcterms:W3CDTF">2026-07-23T14:52:04Z</dcterms:modified>
</cp:coreProperties>
</file>